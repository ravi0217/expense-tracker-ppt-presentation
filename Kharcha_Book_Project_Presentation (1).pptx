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4B711F8-904B-8E05-3E06-81B1C933784A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5AB57E02-DB9E-C1F7-6DDC-A0FF65D21726}">
          <p14:sldIdLst>
            <p14:sldId id="261"/>
            <p14:sldId id="262"/>
            <p14:sldId id="263"/>
            <p14:sldId id="264"/>
          </p14:sldIdLst>
        </p14:section>
        <p14:section name="Implementation" id="{D708A2F5-4ACF-4477-7B93-EEC27F5A7083}">
          <p14:sldIdLst>
            <p14:sldId id="265"/>
            <p14:sldId id="266"/>
          </p14:sldIdLst>
        </p14:section>
        <p14:section name="Wrap-up" id="{95975C24-8FEB-9BF3-62E0-ED63AA5D4063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91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Vinod Mandave and Ravindra Mohite. Our project is Kharcha Book, a web-based expense tracker built with Python, Flask and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Kharcha Book means 'expense book'. It lets a user record income and spending, group it by category, set monthly budgets and see a clear monthly summary. The three numbers on the right give the size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 money in notebooks or spreadsheets is slow and easy to get wrong. Kharcha Book keeps every record in one place and does the calculations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goals we set for the project. Each one maps to a module in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 make up the application: login, transactions, categories, budgets, dashboard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runs the logic, Flask handles requests and sessions, SQLite stores the data, and Jinja2 with Bootstrap builds the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sends a request to Flask. Flask checks the user is logged in, validates the input and runs a parameterized SQL query on SQLite. Jinja2 then builds the HTML page that goes back to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tables. Money is stored as integer paise so there are no decimal rounding errors. Foreign keys link every record to its user, and every transaction to a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safeguards protect user data. Passwords are hashed, every query is limited to the logged-in user, and the database itself rejects invalid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demo walkthrough. Register, add a salary of 25,000 rupees, add a food expense of 1,200 rupees, then open the dashboard. Balance is simply income minus expense: 23,800 rupees.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seven manual cases covering sign-up, transactions and access control. The project also includes three automated unittest cases, and all three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built for a local academic demo, so it has some limits. Each limit on the left has a clear upgrade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Kharcha Book is a complete database-driven web application, it keeps user data safe, and its modular design makes it easy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happy to answer questions, or run a live demo: register, add income and expense, open the dashboard, set a budget and export the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148840"/>
            <a:ext cx="5394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Kharcha Book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Kharcha Book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148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</a:rPr>
              <a:t>Expense Tracker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Python  ·  Flask  ·  SQLite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am pill 1"/>
          <p:cNvSpPr/>
          <p:nvPr/>
        </p:nvSpPr>
        <p:spPr>
          <a:xfrm>
            <a:off x="54864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Initials circle 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Vinod Mandave</a:t>
            </a:r>
            <a:endParaRPr lang="en-US" sz="1600" dirty="0"/>
          </a:p>
        </p:txBody>
      </p:sp>
      <p:sp>
        <p:nvSpPr>
          <p:cNvPr id="10" name="Team pill 2"/>
          <p:cNvSpPr/>
          <p:nvPr/>
        </p:nvSpPr>
        <p:spPr>
          <a:xfrm>
            <a:off x="315468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Initials circle 2"/>
          <p:cNvSpPr/>
          <p:nvPr/>
        </p:nvSpPr>
        <p:spPr>
          <a:xfrm>
            <a:off x="32461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Ravindra Mohite</a:t>
            </a:r>
            <a:endParaRPr lang="en-US" sz="1600" dirty="0"/>
          </a:p>
        </p:txBody>
      </p:sp>
      <p:sp>
        <p:nvSpPr>
          <p:cNvPr id="14" name="Motif ring outer"/>
          <p:cNvSpPr/>
          <p:nvPr/>
        </p:nvSpPr>
        <p:spPr>
          <a:xfrm>
            <a:off x="5989320" y="502920"/>
            <a:ext cx="3291840" cy="32918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5" name="Motif ring middle"/>
          <p:cNvSpPr/>
          <p:nvPr/>
        </p:nvSpPr>
        <p:spPr>
          <a:xfrm>
            <a:off x="6446520" y="960120"/>
            <a:ext cx="2377440" cy="237744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Motif core"/>
          <p:cNvSpPr/>
          <p:nvPr/>
        </p:nvSpPr>
        <p:spPr>
          <a:xfrm>
            <a:off x="6903720" y="14173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upee icon" descr="Rupee 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1051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Kharcha Book is a web-based personal finance tracker. A user can record income and expenses, group them by category, set monthly budgets and review one clear monthly summary.</a:t>
            </a:r>
            <a:endParaRPr lang="en-US" sz="1800" dirty="0"/>
          </a:p>
        </p:txBody>
      </p:sp>
      <p:sp>
        <p:nvSpPr>
          <p:cNvPr id="5" name="Tech chip Python"/>
          <p:cNvSpPr/>
          <p:nvPr/>
        </p:nvSpPr>
        <p:spPr>
          <a:xfrm>
            <a:off x="457200" y="3429000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Python</a:t>
            </a:r>
            <a:endParaRPr lang="en-US" sz="1400" dirty="0"/>
          </a:p>
        </p:txBody>
      </p:sp>
      <p:sp>
        <p:nvSpPr>
          <p:cNvPr id="7" name="Tech chip Flask"/>
          <p:cNvSpPr/>
          <p:nvPr/>
        </p:nvSpPr>
        <p:spPr>
          <a:xfrm>
            <a:off x="1508760" y="3429000"/>
            <a:ext cx="82296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08760" y="3429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Flask</a:t>
            </a:r>
            <a:endParaRPr lang="en-US" sz="1400" dirty="0"/>
          </a:p>
        </p:txBody>
      </p:sp>
      <p:sp>
        <p:nvSpPr>
          <p:cNvPr id="9" name="Tech chip SQLite"/>
          <p:cNvSpPr/>
          <p:nvPr/>
        </p:nvSpPr>
        <p:spPr>
          <a:xfrm>
            <a:off x="2468880" y="3429000"/>
            <a:ext cx="91440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68880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SQLite</a:t>
            </a:r>
            <a:endParaRPr lang="en-US" sz="1400" dirty="0"/>
          </a:p>
        </p:txBody>
      </p:sp>
      <p:sp>
        <p:nvSpPr>
          <p:cNvPr id="11" name="Tech chip Bootstrap"/>
          <p:cNvSpPr/>
          <p:nvPr/>
        </p:nvSpPr>
        <p:spPr>
          <a:xfrm>
            <a:off x="3520440" y="34290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2044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Bootstrap</a:t>
            </a:r>
            <a:endParaRPr lang="en-US" sz="1400" dirty="0"/>
          </a:p>
        </p:txBody>
      </p:sp>
      <p:sp>
        <p:nvSpPr>
          <p:cNvPr id="13" name="Stat card 1"/>
          <p:cNvSpPr/>
          <p:nvPr/>
        </p:nvSpPr>
        <p:spPr>
          <a:xfrm>
            <a:off x="5120640" y="132588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03520" y="1325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Database tables</a:t>
            </a:r>
            <a:endParaRPr lang="en-US" sz="1600" dirty="0"/>
          </a:p>
        </p:txBody>
      </p:sp>
      <p:sp>
        <p:nvSpPr>
          <p:cNvPr id="16" name="Stat card 2"/>
          <p:cNvSpPr/>
          <p:nvPr/>
        </p:nvSpPr>
        <p:spPr>
          <a:xfrm>
            <a:off x="5120640" y="242316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303520" y="2423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Default categories</a:t>
            </a:r>
            <a:endParaRPr lang="en-US" sz="1600" dirty="0"/>
          </a:p>
        </p:txBody>
      </p:sp>
      <p:sp>
        <p:nvSpPr>
          <p:cNvPr id="19" name="Stat card 3"/>
          <p:cNvSpPr/>
          <p:nvPr/>
        </p:nvSpPr>
        <p:spPr>
          <a:xfrm>
            <a:off x="5120640" y="352044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303520" y="3520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Routes (pages &amp; actions)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and Solution</a:t>
            </a:r>
            <a:endParaRPr lang="en-US" sz="3600" dirty="0"/>
          </a:p>
        </p:txBody>
      </p:sp>
      <p:sp>
        <p:nvSpPr>
          <p:cNvPr id="4" name="Card The Problem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The Problem 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4">
              <a:alpha val="15000"/>
            </a:schemeClr>
          </a:solidFill>
          <a:ln/>
        </p:spPr>
      </p:sp>
      <p:pic>
        <p:nvPicPr>
          <p:cNvPr id="6" name="The Problem icon" descr="The Pro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65689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Notebooks and spreadsheets are slow and error-prone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Old records and category totals are hard to find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clear monthly view of income, spending and balance</a:t>
            </a:r>
            <a:endParaRPr lang="en-US" sz="1600" dirty="0"/>
          </a:p>
        </p:txBody>
      </p:sp>
      <p:sp>
        <p:nvSpPr>
          <p:cNvPr id="9" name="Card Our Solution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0" name="Our Solution circle"/>
          <p:cNvSpPr/>
          <p:nvPr/>
        </p:nvSpPr>
        <p:spPr>
          <a:xfrm>
            <a:off x="5029200" y="1508760"/>
            <a:ext cx="548640" cy="5486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1" name="Our Solution icon" descr="Our Sol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333" y="165689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5029200" y="233172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place for all income and expense records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Automatic totals, balance and category breakdown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Budgets, monthly reports and CSV export</a:t>
            </a:r>
            <a:endParaRPr lang="en-US" sz="1600" dirty="0"/>
          </a:p>
        </p:txBody>
      </p:sp>
      <p:sp>
        <p:nvSpPr>
          <p:cNvPr id="14" name="Arrow circle"/>
          <p:cNvSpPr/>
          <p:nvPr/>
        </p:nvSpPr>
        <p:spPr>
          <a:xfrm>
            <a:off x="4224528" y="26060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rrow icon" descr="Ar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785" y="2744297"/>
            <a:ext cx="235549" cy="2355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4" name="Number circle 1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Record income and expense transactions</a:t>
            </a:r>
            <a:endParaRPr lang="en-US" sz="1600" dirty="0"/>
          </a:p>
        </p:txBody>
      </p:sp>
      <p:sp>
        <p:nvSpPr>
          <p:cNvPr id="7" name="Number circle 2"/>
          <p:cNvSpPr/>
          <p:nvPr/>
        </p:nvSpPr>
        <p:spPr>
          <a:xfrm>
            <a:off x="475488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Organise records by category and date</a:t>
            </a:r>
            <a:endParaRPr lang="en-US" sz="1600" dirty="0"/>
          </a:p>
        </p:txBody>
      </p:sp>
      <p:sp>
        <p:nvSpPr>
          <p:cNvPr id="10" name="Number circle 3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Calculate monthly income, expense and balance</a:t>
            </a:r>
            <a:endParaRPr lang="en-US" sz="1600" dirty="0"/>
          </a:p>
        </p:txBody>
      </p:sp>
      <p:sp>
        <p:nvSpPr>
          <p:cNvPr id="13" name="Number circle 4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Set budgets and track spending</a:t>
            </a:r>
            <a:endParaRPr lang="en-US" sz="1600" dirty="0"/>
          </a:p>
        </p:txBody>
      </p:sp>
      <p:sp>
        <p:nvSpPr>
          <p:cNvPr id="16" name="Number circle 5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reports and export CSV</a:t>
            </a:r>
            <a:endParaRPr lang="en-US" sz="1600" dirty="0"/>
          </a:p>
        </p:txBody>
      </p:sp>
      <p:sp>
        <p:nvSpPr>
          <p:cNvPr id="19" name="Number circle 6"/>
          <p:cNvSpPr/>
          <p:nvPr/>
        </p:nvSpPr>
        <p:spPr>
          <a:xfrm>
            <a:off x="4754880" y="3566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548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Show CRUD, joins, constraints and SQL aggregation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4" name="Feature card Secure Login"/>
          <p:cNvSpPr/>
          <p:nvPr/>
        </p:nvSpPr>
        <p:spPr>
          <a:xfrm>
            <a:off x="45720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Secure Login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Secure Login icon" descr="Secure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495044"/>
            <a:ext cx="210312" cy="210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Login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Register, login and hashed passwords</a:t>
            </a:r>
            <a:endParaRPr lang="en-US" sz="1400" dirty="0"/>
          </a:p>
        </p:txBody>
      </p:sp>
      <p:sp>
        <p:nvSpPr>
          <p:cNvPr id="9" name="Feature card Transactions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0" name="Transactions 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Transactions icon" descr="Transac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49504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Add, edit, delete and filter</a:t>
            </a:r>
            <a:endParaRPr lang="en-US" sz="1400" dirty="0"/>
          </a:p>
        </p:txBody>
      </p:sp>
      <p:sp>
        <p:nvSpPr>
          <p:cNvPr id="14" name="Feature card Categories"/>
          <p:cNvSpPr/>
          <p:nvPr/>
        </p:nvSpPr>
        <p:spPr>
          <a:xfrm>
            <a:off x="612648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5" name="Categories circle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Categories icon" descr="Categor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49504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Categories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12 defaults plus your own</a:t>
            </a:r>
            <a:endParaRPr lang="en-US" sz="1400" dirty="0"/>
          </a:p>
        </p:txBody>
      </p:sp>
      <p:sp>
        <p:nvSpPr>
          <p:cNvPr id="19" name="Feature card Budgets"/>
          <p:cNvSpPr/>
          <p:nvPr/>
        </p:nvSpPr>
        <p:spPr>
          <a:xfrm>
            <a:off x="45720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0" name="Budgets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Budgets icon" descr="Budge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18668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limits, overall or per category</a:t>
            </a:r>
            <a:endParaRPr lang="en-US" sz="1400" dirty="0"/>
          </a:p>
        </p:txBody>
      </p:sp>
      <p:sp>
        <p:nvSpPr>
          <p:cNvPr id="24" name="Feature card Dashboard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5" name="Dashboard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6" name="Dashboard icon" descr="Dashbo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164" y="3186684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747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Income, expense and balance at a glance</a:t>
            </a:r>
            <a:endParaRPr lang="en-US" sz="1400" dirty="0"/>
          </a:p>
        </p:txBody>
      </p:sp>
      <p:sp>
        <p:nvSpPr>
          <p:cNvPr id="29" name="Feature card Reports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30" name="Reports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Reports icon" descr="Repor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3186684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093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summary and CSV export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ch card Python 3"/>
          <p:cNvSpPr/>
          <p:nvPr/>
        </p:nvSpPr>
        <p:spPr>
          <a:xfrm>
            <a:off x="457200" y="128016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Python 3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Python 3 icon" descr="Pyth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" y="1623517"/>
            <a:ext cx="273406" cy="2734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426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3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46304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Application logic</a:t>
            </a:r>
            <a:endParaRPr lang="en-US" sz="1400" dirty="0"/>
          </a:p>
        </p:txBody>
      </p:sp>
      <p:sp>
        <p:nvSpPr>
          <p:cNvPr id="9" name="Tech card Flask"/>
          <p:cNvSpPr/>
          <p:nvPr/>
        </p:nvSpPr>
        <p:spPr>
          <a:xfrm>
            <a:off x="4709160" y="128016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0" name="Flask circle"/>
          <p:cNvSpPr/>
          <p:nvPr/>
        </p:nvSpPr>
        <p:spPr>
          <a:xfrm>
            <a:off x="4937760" y="146304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Flask icon" descr="Fla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237" y="1623517"/>
            <a:ext cx="273406" cy="27340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26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Flask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Routes, sessions, templates</a:t>
            </a:r>
            <a:endParaRPr lang="en-US" sz="1400" dirty="0"/>
          </a:p>
        </p:txBody>
      </p:sp>
      <p:sp>
        <p:nvSpPr>
          <p:cNvPr id="14" name="Tech card SQLite"/>
          <p:cNvSpPr/>
          <p:nvPr/>
        </p:nvSpPr>
        <p:spPr>
          <a:xfrm>
            <a:off x="457200" y="237744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5" name="SQLite circle"/>
          <p:cNvSpPr/>
          <p:nvPr/>
        </p:nvSpPr>
        <p:spPr>
          <a:xfrm>
            <a:off x="685800" y="256032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SQLite icon" descr="SQLi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" y="2720797"/>
            <a:ext cx="273406" cy="27340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Relational data storage</a:t>
            </a:r>
            <a:endParaRPr lang="en-US" sz="1400" dirty="0"/>
          </a:p>
        </p:txBody>
      </p:sp>
      <p:sp>
        <p:nvSpPr>
          <p:cNvPr id="19" name="Tech card HTML + CSS"/>
          <p:cNvSpPr/>
          <p:nvPr/>
        </p:nvSpPr>
        <p:spPr>
          <a:xfrm>
            <a:off x="4709160" y="237744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0" name="HTML + CSS circle"/>
          <p:cNvSpPr/>
          <p:nvPr/>
        </p:nvSpPr>
        <p:spPr>
          <a:xfrm>
            <a:off x="4937760" y="256032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1" name="HTML + CSS icon" descr="HTML + C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8237" y="2720797"/>
            <a:ext cx="273406" cy="2734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 + CSS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and styling</a:t>
            </a:r>
            <a:endParaRPr lang="en-US" sz="1400" dirty="0"/>
          </a:p>
        </p:txBody>
      </p:sp>
      <p:sp>
        <p:nvSpPr>
          <p:cNvPr id="24" name="Tech card Bootstrap 5"/>
          <p:cNvSpPr/>
          <p:nvPr/>
        </p:nvSpPr>
        <p:spPr>
          <a:xfrm>
            <a:off x="457200" y="347472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5" name="Bootstrap 5 circle"/>
          <p:cNvSpPr/>
          <p:nvPr/>
        </p:nvSpPr>
        <p:spPr>
          <a:xfrm>
            <a:off x="685800" y="365760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6" name="Bootstrap 5 icon" descr="Bootstrap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77" y="3818077"/>
            <a:ext cx="273406" cy="27340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3621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Bootstrap 5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46304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Responsive interface</a:t>
            </a:r>
            <a:endParaRPr lang="en-US" sz="1400" dirty="0"/>
          </a:p>
        </p:txBody>
      </p:sp>
      <p:sp>
        <p:nvSpPr>
          <p:cNvPr id="29" name="Tech card Jinja2"/>
          <p:cNvSpPr/>
          <p:nvPr/>
        </p:nvSpPr>
        <p:spPr>
          <a:xfrm>
            <a:off x="4709160" y="3474720"/>
            <a:ext cx="3977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30" name="Jinja2 circle"/>
          <p:cNvSpPr/>
          <p:nvPr/>
        </p:nvSpPr>
        <p:spPr>
          <a:xfrm>
            <a:off x="4937760" y="3657600"/>
            <a:ext cx="594360" cy="5943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1" name="Jinja2 icon" descr="Jinja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237" y="3818077"/>
            <a:ext cx="273406" cy="27340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715000" y="36210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Jinja2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571500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Dynamic page templates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Arch box Browser"/>
          <p:cNvSpPr/>
          <p:nvPr/>
        </p:nvSpPr>
        <p:spPr>
          <a:xfrm>
            <a:off x="45720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Browser circle"/>
          <p:cNvSpPr/>
          <p:nvPr/>
        </p:nvSpPr>
        <p:spPr>
          <a:xfrm>
            <a:off x="12344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rowser icon" descr="Brow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262" y="1590142"/>
            <a:ext cx="294437" cy="2944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Browser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Pages and forms</a:t>
            </a:r>
            <a:endParaRPr lang="en-US" sz="1400" dirty="0"/>
          </a:p>
        </p:txBody>
      </p:sp>
      <p:sp>
        <p:nvSpPr>
          <p:cNvPr id="9" name="Arch box Flask App"/>
          <p:cNvSpPr/>
          <p:nvPr/>
        </p:nvSpPr>
        <p:spPr>
          <a:xfrm>
            <a:off x="347472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0" name="Flask App circle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lask App icon" descr="Flask A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782" y="159014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661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Flask App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Routes, login check, validation</a:t>
            </a:r>
            <a:endParaRPr lang="en-US" sz="1400" dirty="0"/>
          </a:p>
        </p:txBody>
      </p:sp>
      <p:sp>
        <p:nvSpPr>
          <p:cNvPr id="14" name="Arch box SQLite"/>
          <p:cNvSpPr/>
          <p:nvPr/>
        </p:nvSpPr>
        <p:spPr>
          <a:xfrm>
            <a:off x="6492240" y="1280160"/>
            <a:ext cx="21945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5" name="SQLite circle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SQLite icon" descr="SQLi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302" y="1590142"/>
            <a:ext cx="294437" cy="2944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836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629400" y="2450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6"/>
                </a:solidFill>
              </a:rPr>
              <a:t>Users, categories, transactions, budgets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265176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request</a:t>
            </a:r>
            <a:endParaRPr lang="en-US" sz="1100" dirty="0"/>
          </a:p>
        </p:txBody>
      </p:sp>
      <p:sp>
        <p:nvSpPr>
          <p:cNvPr id="20" name="Arrow forward 1"/>
          <p:cNvSpPr/>
          <p:nvPr/>
        </p:nvSpPr>
        <p:spPr>
          <a:xfrm>
            <a:off x="2697480" y="210312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row back 1"/>
          <p:cNvSpPr/>
          <p:nvPr/>
        </p:nvSpPr>
        <p:spPr>
          <a:xfrm flipH="1">
            <a:off x="2697480" y="2423160"/>
            <a:ext cx="731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2651760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response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SQL query</a:t>
            </a:r>
            <a:endParaRPr lang="en-US" sz="1100" dirty="0"/>
          </a:p>
        </p:txBody>
      </p:sp>
      <p:sp>
        <p:nvSpPr>
          <p:cNvPr id="24" name="Arrow forward 2"/>
          <p:cNvSpPr/>
          <p:nvPr/>
        </p:nvSpPr>
        <p:spPr>
          <a:xfrm>
            <a:off x="5715000" y="210312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Arrow back 2"/>
          <p:cNvSpPr/>
          <p:nvPr/>
        </p:nvSpPr>
        <p:spPr>
          <a:xfrm flipH="1">
            <a:off x="5715000" y="2423160"/>
            <a:ext cx="731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5669280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data rows</a:t>
            </a:r>
            <a:endParaRPr lang="en-US" sz="1100" dirty="0"/>
          </a:p>
        </p:txBody>
      </p:sp>
      <p:sp>
        <p:nvSpPr>
          <p:cNvPr id="27" name="Flow step 1"/>
          <p:cNvSpPr/>
          <p:nvPr/>
        </p:nvSpPr>
        <p:spPr>
          <a:xfrm>
            <a:off x="457200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8" name="Flow badge 1"/>
          <p:cNvSpPr/>
          <p:nvPr/>
        </p:nvSpPr>
        <p:spPr>
          <a:xfrm>
            <a:off x="594360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9436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94360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sends a request</a:t>
            </a:r>
            <a:endParaRPr lang="en-US" sz="1400" dirty="0"/>
          </a:p>
        </p:txBody>
      </p:sp>
      <p:sp>
        <p:nvSpPr>
          <p:cNvPr id="31" name="Flow step 2"/>
          <p:cNvSpPr/>
          <p:nvPr/>
        </p:nvSpPr>
        <p:spPr>
          <a:xfrm>
            <a:off x="2590495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2" name="Flow badge 2"/>
          <p:cNvSpPr/>
          <p:nvPr/>
        </p:nvSpPr>
        <p:spPr>
          <a:xfrm>
            <a:off x="2727655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2727655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2727655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Flask checks login and input</a:t>
            </a:r>
            <a:endParaRPr lang="en-US" sz="1400" dirty="0"/>
          </a:p>
        </p:txBody>
      </p:sp>
      <p:sp>
        <p:nvSpPr>
          <p:cNvPr id="35" name="Flow step 3"/>
          <p:cNvSpPr/>
          <p:nvPr/>
        </p:nvSpPr>
        <p:spPr>
          <a:xfrm>
            <a:off x="4723790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6" name="Flow badge 3"/>
          <p:cNvSpPr/>
          <p:nvPr/>
        </p:nvSpPr>
        <p:spPr>
          <a:xfrm>
            <a:off x="4860950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86095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4860950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Safe SQL reads or writes data</a:t>
            </a:r>
            <a:endParaRPr lang="en-US" sz="1400" dirty="0"/>
          </a:p>
        </p:txBody>
      </p:sp>
      <p:sp>
        <p:nvSpPr>
          <p:cNvPr id="39" name="Flow step 4"/>
          <p:cNvSpPr/>
          <p:nvPr/>
        </p:nvSpPr>
        <p:spPr>
          <a:xfrm>
            <a:off x="6857086" y="3429000"/>
            <a:ext cx="1828800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0" name="Flow badge 4"/>
          <p:cNvSpPr/>
          <p:nvPr/>
        </p:nvSpPr>
        <p:spPr>
          <a:xfrm>
            <a:off x="6994246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6994246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6994246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Jinja2 renders the page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Database Design</a:t>
            </a:r>
            <a:endParaRPr lang="en-US" sz="3600" dirty="0"/>
          </a:p>
        </p:txBody>
      </p:sp>
      <p:sp>
        <p:nvSpPr>
          <p:cNvPr id="4" name="Table card users"/>
          <p:cNvSpPr/>
          <p:nvPr/>
        </p:nvSpPr>
        <p:spPr>
          <a:xfrm>
            <a:off x="457200" y="128016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Dot users"/>
          <p:cNvSpPr/>
          <p:nvPr/>
        </p:nvSpPr>
        <p:spPr>
          <a:xfrm>
            <a:off x="685800" y="146304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3898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name, email (unique), password_hash, created_at</a:t>
            </a:r>
            <a:endParaRPr lang="en-US" sz="1400" dirty="0"/>
          </a:p>
        </p:txBody>
      </p:sp>
      <p:sp>
        <p:nvSpPr>
          <p:cNvPr id="8" name="Table card categories"/>
          <p:cNvSpPr/>
          <p:nvPr/>
        </p:nvSpPr>
        <p:spPr>
          <a:xfrm>
            <a:off x="4709160" y="128016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9" name="Dot categories"/>
          <p:cNvSpPr/>
          <p:nvPr/>
        </p:nvSpPr>
        <p:spPr>
          <a:xfrm>
            <a:off x="4937760" y="146304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257800" y="13898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categories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7830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name, kind (Income / Expense)</a:t>
            </a:r>
            <a:endParaRPr lang="en-US" sz="1400" dirty="0"/>
          </a:p>
        </p:txBody>
      </p:sp>
      <p:sp>
        <p:nvSpPr>
          <p:cNvPr id="12" name="Table card transactions"/>
          <p:cNvSpPr/>
          <p:nvPr/>
        </p:nvSpPr>
        <p:spPr>
          <a:xfrm>
            <a:off x="457200" y="274320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3" name="Dot transactions"/>
          <p:cNvSpPr/>
          <p:nvPr/>
        </p:nvSpPr>
        <p:spPr>
          <a:xfrm>
            <a:off x="685800" y="292608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2852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transactions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2461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category_id (FK), kind, amount_paise, transaction_date, description</a:t>
            </a:r>
            <a:endParaRPr lang="en-US" sz="1400" dirty="0"/>
          </a:p>
        </p:txBody>
      </p:sp>
      <p:sp>
        <p:nvSpPr>
          <p:cNvPr id="16" name="Table card budgets"/>
          <p:cNvSpPr/>
          <p:nvPr/>
        </p:nvSpPr>
        <p:spPr>
          <a:xfrm>
            <a:off x="4709160" y="2743200"/>
            <a:ext cx="39776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7" name="Dot budgets"/>
          <p:cNvSpPr/>
          <p:nvPr/>
        </p:nvSpPr>
        <p:spPr>
          <a:xfrm>
            <a:off x="4937760" y="292608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57800" y="2852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budgets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2461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id (PK), user_id (FK), category_id (FK, optional), month, year, amount_paise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user has many categories, transactions and budgets. One category has many transactions.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Security and Data Integrity</a:t>
            </a:r>
            <a:endParaRPr lang="en-US" sz="3600" dirty="0"/>
          </a:p>
        </p:txBody>
      </p:sp>
      <p:sp>
        <p:nvSpPr>
          <p:cNvPr id="4" name="Safeguards panel"/>
          <p:cNvSpPr/>
          <p:nvPr/>
        </p:nvSpPr>
        <p:spPr>
          <a:xfrm>
            <a:off x="457200" y="128016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Shield circle"/>
          <p:cNvSpPr/>
          <p:nvPr/>
        </p:nvSpPr>
        <p:spPr>
          <a:xfrm>
            <a:off x="1188720" y="16916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hield icon" descr="Sh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63" y="2037283"/>
            <a:ext cx="588874" cy="5888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Secure by design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Simple rules that protect every user's data</a:t>
            </a:r>
            <a:endParaRPr lang="en-US" sz="1400" dirty="0"/>
          </a:p>
        </p:txBody>
      </p:sp>
      <p:sp>
        <p:nvSpPr>
          <p:cNvPr id="9" name="Check 1 circle"/>
          <p:cNvSpPr/>
          <p:nvPr/>
        </p:nvSpPr>
        <p:spPr>
          <a:xfrm>
            <a:off x="3520440" y="131673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0" name="Check 1 icon" descr="Chec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1420429"/>
            <a:ext cx="176662" cy="17666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69080" y="1280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Passwords stored as hashes, never plain text</a:t>
            </a:r>
            <a:endParaRPr lang="en-US" sz="1500" dirty="0"/>
          </a:p>
        </p:txBody>
      </p:sp>
      <p:sp>
        <p:nvSpPr>
          <p:cNvPr id="12" name="Check 2 circle"/>
          <p:cNvSpPr/>
          <p:nvPr/>
        </p:nvSpPr>
        <p:spPr>
          <a:xfrm>
            <a:off x="3520440" y="186537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3" name="Check 2 icon" descr="Chec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1969069"/>
            <a:ext cx="176662" cy="17666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6908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Each user sees only their own data</a:t>
            </a:r>
            <a:endParaRPr lang="en-US" sz="1500" dirty="0"/>
          </a:p>
        </p:txBody>
      </p:sp>
      <p:sp>
        <p:nvSpPr>
          <p:cNvPr id="15" name="Check 3 circle"/>
          <p:cNvSpPr/>
          <p:nvPr/>
        </p:nvSpPr>
        <p:spPr>
          <a:xfrm>
            <a:off x="3520440" y="241401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6" name="Check 3 icon" descr="Chec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2517709"/>
            <a:ext cx="176662" cy="17666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06908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Parameterized SQL prevents SQL injection</a:t>
            </a:r>
            <a:endParaRPr lang="en-US" sz="1500" dirty="0"/>
          </a:p>
        </p:txBody>
      </p:sp>
      <p:sp>
        <p:nvSpPr>
          <p:cNvPr id="18" name="Check 4 circle"/>
          <p:cNvSpPr/>
          <p:nvPr/>
        </p:nvSpPr>
        <p:spPr>
          <a:xfrm>
            <a:off x="3520440" y="296265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19" name="Check 4 icon" descr="Chec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3066349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06908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Money kept as integer paise: no rounding errors</a:t>
            </a:r>
            <a:endParaRPr lang="en-US" sz="1500" dirty="0"/>
          </a:p>
        </p:txBody>
      </p:sp>
      <p:sp>
        <p:nvSpPr>
          <p:cNvPr id="21" name="Check 5 circle"/>
          <p:cNvSpPr/>
          <p:nvPr/>
        </p:nvSpPr>
        <p:spPr>
          <a:xfrm>
            <a:off x="3520440" y="351129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2" name="Check 5 icon" descr="Chec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3614989"/>
            <a:ext cx="176662" cy="17666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069080" y="3474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Foreign keys, CHECK and UNIQUE rules guard data</a:t>
            </a:r>
            <a:endParaRPr lang="en-US" sz="1500" dirty="0"/>
          </a:p>
        </p:txBody>
      </p:sp>
      <p:sp>
        <p:nvSpPr>
          <p:cNvPr id="24" name="Check 6 circle"/>
          <p:cNvSpPr/>
          <p:nvPr/>
        </p:nvSpPr>
        <p:spPr>
          <a:xfrm>
            <a:off x="3520440" y="4059936"/>
            <a:ext cx="384048" cy="384048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25" name="Check 6 icon" descr="Chec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133" y="4163629"/>
            <a:ext cx="176662" cy="17666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06908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Login required on every private page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4" name="Step connector"/>
          <p:cNvSpPr/>
          <p:nvPr/>
        </p:nvSpPr>
        <p:spPr>
          <a:xfrm>
            <a:off x="1143000" y="1645920"/>
            <a:ext cx="68580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tep circle 1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</a:t>
            </a:r>
            <a:endParaRPr lang="en-US" sz="1400" dirty="0"/>
          </a:p>
        </p:txBody>
      </p:sp>
      <p:sp>
        <p:nvSpPr>
          <p:cNvPr id="8" name="Step circle 2"/>
          <p:cNvSpPr/>
          <p:nvPr/>
        </p:nvSpPr>
        <p:spPr>
          <a:xfrm>
            <a:off x="22402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0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Add income</a:t>
            </a:r>
            <a:endParaRPr lang="en-US" sz="1400" dirty="0"/>
          </a:p>
        </p:txBody>
      </p:sp>
      <p:sp>
        <p:nvSpPr>
          <p:cNvPr id="11" name="Step circle 3"/>
          <p:cNvSpPr/>
          <p:nvPr/>
        </p:nvSpPr>
        <p:spPr>
          <a:xfrm>
            <a:off x="36118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Add expense</a:t>
            </a:r>
            <a:endParaRPr lang="en-US" sz="1400" dirty="0"/>
          </a:p>
        </p:txBody>
      </p:sp>
      <p:sp>
        <p:nvSpPr>
          <p:cNvPr id="14" name="Step circle 4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dashboard</a:t>
            </a:r>
            <a:endParaRPr lang="en-US" sz="1400" dirty="0"/>
          </a:p>
        </p:txBody>
      </p:sp>
      <p:sp>
        <p:nvSpPr>
          <p:cNvPr id="17" name="Step circle 5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Set budget</a:t>
            </a:r>
            <a:endParaRPr lang="en-US" sz="1400" dirty="0"/>
          </a:p>
        </p:txBody>
      </p:sp>
      <p:sp>
        <p:nvSpPr>
          <p:cNvPr id="20" name="Step circle 6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26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CSV</a:t>
            </a:r>
            <a:endParaRPr lang="en-US" sz="1400" dirty="0"/>
          </a:p>
        </p:txBody>
      </p:sp>
      <p:sp>
        <p:nvSpPr>
          <p:cNvPr id="23" name="Calculation panel"/>
          <p:cNvSpPr/>
          <p:nvPr/>
        </p:nvSpPr>
        <p:spPr>
          <a:xfrm>
            <a:off x="457200" y="2743200"/>
            <a:ext cx="822960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3152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Income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₹25,000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2926080" y="3291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6"/>
                </a:solidFill>
              </a:rPr>
              <a:t>−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Expense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₹1,200</a:t>
            </a:r>
            <a:endParaRPr lang="en-US" sz="3600" dirty="0"/>
          </a:p>
        </p:txBody>
      </p:sp>
      <p:sp>
        <p:nvSpPr>
          <p:cNvPr id="29" name="Text 26"/>
          <p:cNvSpPr txBox="1"/>
          <p:nvPr/>
        </p:nvSpPr>
        <p:spPr>
          <a:xfrm>
            <a:off x="5623560" y="3291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6"/>
                </a:solidFill>
              </a:rPr>
              <a:t>=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Balance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₹23,800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Sample values  |  Balance = Income − Expense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</a:t>
            </a:r>
            <a:endParaRPr lang="en-US" sz="3600" dirty="0"/>
          </a:p>
        </p:txBody>
      </p:sp>
      <p:graphicFrame>
        <p:nvGraphicFramePr>
          <p:cNvPr id="12" name="Test c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32186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 with new email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 created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Register, existing email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Duplicate rejected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valid income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Saved, totals update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 or negative amount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 rejected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 a transaction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Values updated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Delete a transaction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Record removed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TC-07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 list while logged out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Redirect to login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st stat 1"/>
          <p:cNvSpPr/>
          <p:nvPr/>
        </p:nvSpPr>
        <p:spPr>
          <a:xfrm>
            <a:off x="6583680" y="1280160"/>
            <a:ext cx="21031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58368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6720840" y="21762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Manual test cases</a:t>
            </a:r>
            <a:endParaRPr lang="en-US" sz="1400" dirty="0"/>
          </a:p>
        </p:txBody>
      </p:sp>
      <p:sp>
        <p:nvSpPr>
          <p:cNvPr id="8" name="Test stat 2"/>
          <p:cNvSpPr/>
          <p:nvPr/>
        </p:nvSpPr>
        <p:spPr>
          <a:xfrm>
            <a:off x="6583680" y="2971800"/>
            <a:ext cx="21031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38679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tests, all passing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Future Scope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TODAY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NEXT</a:t>
            </a:r>
            <a:endParaRPr lang="en-US" sz="1200" dirty="0"/>
          </a:p>
        </p:txBody>
      </p:sp>
      <p:sp>
        <p:nvSpPr>
          <p:cNvPr id="6" name="Limit 1"/>
          <p:cNvSpPr/>
          <p:nvPr/>
        </p:nvSpPr>
        <p:spPr>
          <a:xfrm>
            <a:off x="457200" y="1572768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5727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academic demo only</a:t>
            </a:r>
            <a:endParaRPr lang="en-US" sz="1400" dirty="0"/>
          </a:p>
        </p:txBody>
      </p:sp>
      <p:sp>
        <p:nvSpPr>
          <p:cNvPr id="8" name="Next arrow 1 circle"/>
          <p:cNvSpPr/>
          <p:nvPr/>
        </p:nvSpPr>
        <p:spPr>
          <a:xfrm>
            <a:off x="4187952" y="1664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Next arrow 1 icon" descr="Next arrow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1787652"/>
            <a:ext cx="210312" cy="210312"/>
          </a:xfrm>
          <a:prstGeom prst="rect">
            <a:avLst/>
          </a:prstGeom>
        </p:spPr>
      </p:pic>
      <p:sp>
        <p:nvSpPr>
          <p:cNvPr id="10" name="Future 1"/>
          <p:cNvSpPr/>
          <p:nvPr/>
        </p:nvSpPr>
        <p:spPr>
          <a:xfrm>
            <a:off x="4800600" y="1572768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83480" y="1572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Hardened deployment, CSRF protection, password reset</a:t>
            </a:r>
            <a:endParaRPr lang="en-US" sz="1400" dirty="0"/>
          </a:p>
        </p:txBody>
      </p:sp>
      <p:sp>
        <p:nvSpPr>
          <p:cNvPr id="12" name="Limit 2"/>
          <p:cNvSpPr/>
          <p:nvPr/>
        </p:nvSpPr>
        <p:spPr>
          <a:xfrm>
            <a:off x="457200" y="2340864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234086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 for small scale</a:t>
            </a:r>
            <a:endParaRPr lang="en-US" sz="1400" dirty="0"/>
          </a:p>
        </p:txBody>
      </p:sp>
      <p:sp>
        <p:nvSpPr>
          <p:cNvPr id="14" name="Next arrow 2 circle"/>
          <p:cNvSpPr/>
          <p:nvPr/>
        </p:nvSpPr>
        <p:spPr>
          <a:xfrm>
            <a:off x="4187952" y="24323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xt arrow 2 icon" descr="Next arrow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2555748"/>
            <a:ext cx="210312" cy="210312"/>
          </a:xfrm>
          <a:prstGeom prst="rect">
            <a:avLst/>
          </a:prstGeom>
        </p:spPr>
      </p:pic>
      <p:sp>
        <p:nvSpPr>
          <p:cNvPr id="16" name="Future 2"/>
          <p:cNvSpPr/>
          <p:nvPr/>
        </p:nvSpPr>
        <p:spPr>
          <a:xfrm>
            <a:off x="4800600" y="2340864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983480" y="234086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 or PostgreSQL</a:t>
            </a:r>
            <a:endParaRPr lang="en-US" sz="1400" dirty="0"/>
          </a:p>
        </p:txBody>
      </p:sp>
      <p:sp>
        <p:nvSpPr>
          <p:cNvPr id="18" name="Limit 3"/>
          <p:cNvSpPr/>
          <p:nvPr/>
        </p:nvSpPr>
        <p:spPr>
          <a:xfrm>
            <a:off x="457200" y="3108960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0080" y="3108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 and CSV reports only</a:t>
            </a:r>
            <a:endParaRPr lang="en-US" sz="1400" dirty="0"/>
          </a:p>
        </p:txBody>
      </p:sp>
      <p:sp>
        <p:nvSpPr>
          <p:cNvPr id="20" name="Next arrow 3 circle"/>
          <p:cNvSpPr/>
          <p:nvPr/>
        </p:nvSpPr>
        <p:spPr>
          <a:xfrm>
            <a:off x="4187952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Next arrow 3 icon" descr="Next arrow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3323844"/>
            <a:ext cx="210312" cy="210312"/>
          </a:xfrm>
          <a:prstGeom prst="rect">
            <a:avLst/>
          </a:prstGeom>
        </p:spPr>
      </p:pic>
      <p:sp>
        <p:nvSpPr>
          <p:cNvPr id="22" name="Future 3"/>
          <p:cNvSpPr/>
          <p:nvPr/>
        </p:nvSpPr>
        <p:spPr>
          <a:xfrm>
            <a:off x="4800600" y="3108960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498348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PDF reports and chart visuals</a:t>
            </a:r>
            <a:endParaRPr lang="en-US" sz="1400" dirty="0"/>
          </a:p>
        </p:txBody>
      </p:sp>
      <p:sp>
        <p:nvSpPr>
          <p:cNvPr id="24" name="Limit 4"/>
          <p:cNvSpPr/>
          <p:nvPr/>
        </p:nvSpPr>
        <p:spPr>
          <a:xfrm>
            <a:off x="457200" y="3877056"/>
            <a:ext cx="3566160" cy="640080"/>
          </a:xfrm>
          <a:prstGeom prst="roundRect">
            <a:avLst>
              <a:gd name="adj" fmla="val 17143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0080" y="387705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bank, UPI or SMS link</a:t>
            </a:r>
            <a:endParaRPr lang="en-US" sz="1400" dirty="0"/>
          </a:p>
        </p:txBody>
      </p:sp>
      <p:sp>
        <p:nvSpPr>
          <p:cNvPr id="26" name="Next arrow 4 circle"/>
          <p:cNvSpPr/>
          <p:nvPr/>
        </p:nvSpPr>
        <p:spPr>
          <a:xfrm>
            <a:off x="4187952" y="3968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Next arrow 4 icon" descr="Next arrow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4091940"/>
            <a:ext cx="210312" cy="210312"/>
          </a:xfrm>
          <a:prstGeom prst="rect">
            <a:avLst/>
          </a:prstGeom>
        </p:spPr>
      </p:pic>
      <p:sp>
        <p:nvSpPr>
          <p:cNvPr id="28" name="Future 4"/>
          <p:cNvSpPr/>
          <p:nvPr/>
        </p:nvSpPr>
        <p:spPr>
          <a:xfrm>
            <a:off x="4800600" y="3877056"/>
            <a:ext cx="3886200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983480" y="3877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Recurring transactions and savings goals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Takeaway card 1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5" name="Complete system circle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6" name="Complete system icon" descr="Complete 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1751990"/>
            <a:ext cx="336499" cy="3364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Complete system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Login, transactions, categories, budgets, dashboard and reports in one app</a:t>
            </a:r>
            <a:endParaRPr lang="en-US" sz="1600" dirty="0"/>
          </a:p>
        </p:txBody>
      </p:sp>
      <p:sp>
        <p:nvSpPr>
          <p:cNvPr id="9" name="Takeaway card 2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0" name="Safe and reliable circle"/>
          <p:cNvSpPr/>
          <p:nvPr/>
        </p:nvSpPr>
        <p:spPr>
          <a:xfrm>
            <a:off x="352044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1" name="Safe and reliable icon" descr="Safe and reli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50" y="1751990"/>
            <a:ext cx="336499" cy="3364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Safe and reliable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Hashed passwords, per-user data, safe SQL and database rules</a:t>
            </a:r>
            <a:endParaRPr lang="en-US" sz="1600" dirty="0"/>
          </a:p>
        </p:txBody>
      </p:sp>
      <p:sp>
        <p:nvSpPr>
          <p:cNvPr id="14" name="Takeaway card 3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72033">
                <a:alpha val="10000"/>
              </a:srgbClr>
            </a:outerShdw>
          </a:effectLst>
        </p:spPr>
      </p:sp>
      <p:sp>
        <p:nvSpPr>
          <p:cNvPr id="15" name="Ready to grow circle"/>
          <p:cNvSpPr/>
          <p:nvPr/>
        </p:nvSpPr>
        <p:spPr>
          <a:xfrm>
            <a:off x="6355080" y="1554480"/>
            <a:ext cx="731520" cy="73152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Ready to grow icon" descr="Ready to g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590" y="1751990"/>
            <a:ext cx="336499" cy="33649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550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Ready to grow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35508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Modular Flask design makes analytics and deployment easy to add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Kharcha Book  ·  Expense Tracker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am pill 1"/>
          <p:cNvSpPr/>
          <p:nvPr/>
        </p:nvSpPr>
        <p:spPr>
          <a:xfrm>
            <a:off x="54864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Initials circle 1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Vinod Mandave</a:t>
            </a:r>
            <a:endParaRPr lang="en-US" sz="1600" dirty="0"/>
          </a:p>
        </p:txBody>
      </p:sp>
      <p:sp>
        <p:nvSpPr>
          <p:cNvPr id="10" name="Team pill 2"/>
          <p:cNvSpPr/>
          <p:nvPr/>
        </p:nvSpPr>
        <p:spPr>
          <a:xfrm>
            <a:off x="3154680" y="3840480"/>
            <a:ext cx="2423160" cy="64008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Initials circle 2"/>
          <p:cNvSpPr/>
          <p:nvPr/>
        </p:nvSpPr>
        <p:spPr>
          <a:xfrm>
            <a:off x="32461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Ravindra Mohite</a:t>
            </a:r>
            <a:endParaRPr lang="en-US" sz="1600" dirty="0"/>
          </a:p>
        </p:txBody>
      </p:sp>
      <p:sp>
        <p:nvSpPr>
          <p:cNvPr id="14" name="Motif ring outer"/>
          <p:cNvSpPr/>
          <p:nvPr/>
        </p:nvSpPr>
        <p:spPr>
          <a:xfrm>
            <a:off x="5989320" y="502920"/>
            <a:ext cx="3291840" cy="32918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5" name="Motif ring middle"/>
          <p:cNvSpPr/>
          <p:nvPr/>
        </p:nvSpPr>
        <p:spPr>
          <a:xfrm>
            <a:off x="6446520" y="960120"/>
            <a:ext cx="2377440" cy="2377440"/>
          </a:xfrm>
          <a:prstGeom prst="ellipse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16" name="Motif core"/>
          <p:cNvSpPr/>
          <p:nvPr/>
        </p:nvSpPr>
        <p:spPr>
          <a:xfrm>
            <a:off x="6903720" y="141732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upee icon" descr="Rupee 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810512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harcha Book">
  <a:themeElements>
    <a:clrScheme name="Kharcha Book">
      <a:dk1>
        <a:srgbClr val="172033"/>
      </a:dk1>
      <a:lt1>
        <a:srgbClr val="FFFFFF"/>
      </a:lt1>
      <a:dk2>
        <a:srgbClr val="312E81"/>
      </a:dk2>
      <a:lt2>
        <a:srgbClr val="F6F8FC"/>
      </a:lt2>
      <a:accent1>
        <a:srgbClr val="4F46E5"/>
      </a:accent1>
      <a:accent2>
        <a:srgbClr val="059669"/>
      </a:accent2>
      <a:accent3>
        <a:srgbClr val="D97706"/>
      </a:accent3>
      <a:accent4>
        <a:srgbClr val="DC2626"/>
      </a:accent4>
      <a:accent5>
        <a:srgbClr val="A5B4FC"/>
      </a:accent5>
      <a:accent6>
        <a:srgbClr val="5B6778"/>
      </a:accent6>
      <a:hlink>
        <a:srgbClr val="4F46E5"/>
      </a:hlink>
      <a:folHlink>
        <a:srgbClr val="5B6778"/>
      </a:folHlink>
    </a:clrScheme>
    <a:fontScheme name="Kharcha 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Office PowerPoint</Application>
  <PresentationFormat>On-screen Show (16:9)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Kharcha Book</vt:lpstr>
      <vt:lpstr>Kharcha Book</vt:lpstr>
      <vt:lpstr>Project Overview</vt:lpstr>
      <vt:lpstr>Problem and Solution</vt:lpstr>
      <vt:lpstr>Objectives</vt:lpstr>
      <vt:lpstr>Key Features</vt:lpstr>
      <vt:lpstr>Technology Stack</vt:lpstr>
      <vt:lpstr>System Architecture</vt:lpstr>
      <vt:lpstr>Database Design</vt:lpstr>
      <vt:lpstr>Security and Data Integrity</vt:lpstr>
      <vt:lpstr>How It Works</vt:lpstr>
      <vt:lpstr>Testing</vt:lpstr>
      <vt:lpstr>Limitations and Future Scope</vt:lpstr>
      <vt:lpstr>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Kharcha Book - Expense Tracker System</dc:title>
  <dc:subject>PptxGenJS Presentation</dc:subject>
  <dc:creator>Vinod Mandave, Ravindra Mohite</dc:creator>
  <cp:lastModifiedBy>yash jadhav</cp:lastModifiedBy>
  <cp:revision>3</cp:revision>
  <dcterms:created xsi:type="dcterms:W3CDTF">2026-10-16T06:31:49Z</dcterms:created>
  <dcterms:modified xsi:type="dcterms:W3CDTF">2026-10-16T08:21:23Z</dcterms:modified>
</cp:coreProperties>
</file>